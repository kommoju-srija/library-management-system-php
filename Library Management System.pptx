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330" r:id="rId7"/>
    <p:sldId id="305" r:id="rId8"/>
    <p:sldId id="338" r:id="rId9"/>
    <p:sldId id="339" r:id="rId10"/>
    <p:sldId id="335" r:id="rId11"/>
    <p:sldId id="340" r:id="rId12"/>
    <p:sldId id="274" r:id="rId13"/>
    <p:sldId id="34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25" autoAdjust="0"/>
  </p:normalViewPr>
  <p:slideViewPr>
    <p:cSldViewPr snapToGrid="0">
      <p:cViewPr varScale="1">
        <p:scale>
          <a:sx n="71" d="100"/>
          <a:sy n="71" d="100"/>
        </p:scale>
        <p:origin x="1138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C06C4-C5A6-48FB-97F5-B20A44F857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55657-0A12-495F-9FFA-D8F7554E7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B2CC-0155-4E5E-A890-531D58ADF5B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0FBB-F712-42E7-8C2F-226D98798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C0559-D619-4E56-BF6F-3712370C21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38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050" y="3600450"/>
            <a:ext cx="9144000" cy="24511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5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1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910AFBC-7932-43F4-ABEA-C89B2698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78A42D-5ED2-4AB6-BE4B-41090743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9" name="Date Placeholder 1">
            <a:extLst>
              <a:ext uri="{FF2B5EF4-FFF2-40B4-BE49-F238E27FC236}">
                <a16:creationId xmlns:a16="http://schemas.microsoft.com/office/drawing/2014/main" id="{4D9A7D07-2BA3-438D-972B-EA57837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>
            <a:lvl1pPr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3/1/20XX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8720583-BC84-48EB-85BC-AE71214A3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0" y="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C3F0A5CD-C47A-4CDF-BE99-75F3A81B18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9520" y="2286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7329454B-9275-4E86-B32E-91C0DB62AA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89520" y="4572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21E9E1BF-D594-4F96-8DBE-5A8DD51D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C30FDEF8-F3F3-42D5-9EE1-EDDF18B3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9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00450"/>
            <a:ext cx="5322888" cy="24511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9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Char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5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3B5BF0-238D-481F-A15B-206D1E2F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78E43B-8F1B-4CBD-B09E-5AD9A247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737C17C2-E2A6-4219-AE02-C8EAF943C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E7BC3CE-3806-41F3-B4F6-EBB2C3E9E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" y="484632"/>
            <a:ext cx="12179808" cy="590702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C036CF-E92D-4E80-8E6B-1B06EDDF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016"/>
            <a:ext cx="4800600" cy="374904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ADCFE1B-ABA2-4B11-B7DE-02CE383D6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5779"/>
            <a:ext cx="4800600" cy="1066800"/>
          </a:xfrm>
        </p:spPr>
        <p:txBody>
          <a:bodyPr>
            <a:normAutofit/>
          </a:bodyPr>
          <a:lstStyle>
            <a:lvl1pPr marL="228600" indent="0">
              <a:buNone/>
              <a:defRPr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0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B84B862-7F1F-4B98-B437-936D8A73A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664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C76B23B2-3605-4292-9F96-F34651B689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AB1E9EC3-2FB6-4E1C-8211-306450FDE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5936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F3628146-045F-4FBC-A365-3D1D4B3D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3144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50972B-CA23-4B92-987F-EE48ECCFF5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363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DE19225-DA72-4A39-8CFD-695BFBB93E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E66A7C97-DBB6-4333-B12F-E26C38E69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728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1FA0B5-660E-478A-AF8A-196DBD6AE4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029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77C92085-3D01-44E4-BA12-E39F1EA0A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7973" y="47335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35DA97BC-7224-440A-A227-8F4A101804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7274" y="5342763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C236524B-4724-42FA-A2B2-33566478F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39" y="4737100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F7DE4ED-8F4D-465C-86B4-2372AE291F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3940" y="5346319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5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5157787" cy="3446463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60320"/>
            <a:ext cx="5183188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1C83D0-CBAB-4E41-89AB-89FF36D3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02BB0-D231-4195-8083-264C01DF9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11680"/>
            <a:ext cx="51577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2A70FA-99E0-466C-AC57-33C48353B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9027" y="2011680"/>
            <a:ext cx="51831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74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4360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4360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22881CE-A366-4A3A-AE00-9B14BEFE4A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8934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CF16E98-73C9-47B5-B88B-9120BEB9F0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934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7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3294AE-7408-47DB-898D-41F8C069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73052A-4118-4E04-81F8-A44EC172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marL="228600" lvl="0" indent="-228600"/>
            <a:r>
              <a:rPr lang="en-US" sz="20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88D1E1-6064-4D6A-9EB1-578E20A2A0ED}"/>
              </a:ext>
            </a:extLst>
          </p:cNvPr>
          <p:cNvSpPr txBox="1">
            <a:spLocks/>
          </p:cNvSpPr>
          <p:nvPr userDrawn="1"/>
        </p:nvSpPr>
        <p:spPr>
          <a:xfrm>
            <a:off x="841248" y="6429375"/>
            <a:ext cx="264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B23B9F-B223-42FC-B961-B8BFC75D2259}" type="datetime1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11/19/2025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47C5CB-0317-4DC6-A76F-38A5BB1FD1C2}"/>
              </a:ext>
            </a:extLst>
          </p:cNvPr>
          <p:cNvSpPr txBox="1">
            <a:spLocks/>
          </p:cNvSpPr>
          <p:nvPr userDrawn="1"/>
        </p:nvSpPr>
        <p:spPr>
          <a:xfrm>
            <a:off x="4044696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CCF6E15-0BE7-453B-BBD4-B379C390AD22}"/>
              </a:ext>
            </a:extLst>
          </p:cNvPr>
          <p:cNvSpPr txBox="1">
            <a:spLocks/>
          </p:cNvSpPr>
          <p:nvPr userDrawn="1"/>
        </p:nvSpPr>
        <p:spPr>
          <a:xfrm>
            <a:off x="8613648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44951-7827-47D4-8276-7DDE1FA7D85A}" type="slidenum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E092228-4487-4E3A-AEE3-12DC34A06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4928" y="484632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AB20921-6E7F-4BD8-9399-D18CABB64B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4928" y="3511296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3043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22B425-A1C3-4DFE-BF49-1B9F96D4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AEC60F9-EA79-4A18-B040-024AFB62FD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" y="484632"/>
            <a:ext cx="11210544" cy="319125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B88B7B-A749-40EA-A140-38D1E04E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8489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0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5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7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2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13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5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9" r:id="rId3"/>
    <p:sldLayoutId id="2147483698" r:id="rId4"/>
    <p:sldLayoutId id="2147483686" r:id="rId5"/>
    <p:sldLayoutId id="2147483700" r:id="rId6"/>
    <p:sldLayoutId id="2147483705" r:id="rId7"/>
    <p:sldLayoutId id="2147483689" r:id="rId8"/>
    <p:sldLayoutId id="2147483704" r:id="rId9"/>
    <p:sldLayoutId id="2147483702" r:id="rId10"/>
    <p:sldLayoutId id="2147483701" r:id="rId11"/>
    <p:sldLayoutId id="2147483703" r:id="rId12"/>
    <p:sldLayoutId id="2147483685" r:id="rId13"/>
    <p:sldLayoutId id="2147483687" r:id="rId14"/>
    <p:sldLayoutId id="2147483688" r:id="rId15"/>
    <p:sldLayoutId id="2147483690" r:id="rId16"/>
    <p:sldLayoutId id="2147483692" r:id="rId17"/>
    <p:sldLayoutId id="2147483693" r:id="rId18"/>
  </p:sldLayoutIdLst>
  <p:hf hdr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32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49E42A7-45E6-88D9-2239-372350CD39AD}"/>
              </a:ext>
            </a:extLst>
          </p:cNvPr>
          <p:cNvSpPr txBox="1"/>
          <p:nvPr/>
        </p:nvSpPr>
        <p:spPr>
          <a:xfrm>
            <a:off x="1263972" y="1538343"/>
            <a:ext cx="91496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 Project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AB01E-20BC-3C7D-662E-FEAFABF53C1C}"/>
              </a:ext>
            </a:extLst>
          </p:cNvPr>
          <p:cNvSpPr txBox="1"/>
          <p:nvPr/>
        </p:nvSpPr>
        <p:spPr>
          <a:xfrm>
            <a:off x="1263972" y="3028890"/>
            <a:ext cx="8859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Solution using PHP and MySQL for Efficient Library Operations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FA1FB-F8D0-0C73-AE11-6AB560769A1D}"/>
              </a:ext>
            </a:extLst>
          </p:cNvPr>
          <p:cNvSpPr txBox="1"/>
          <p:nvPr/>
        </p:nvSpPr>
        <p:spPr>
          <a:xfrm>
            <a:off x="8305515" y="4851700"/>
            <a:ext cx="3186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:-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K.srija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C138988F-18A8-C630-355A-972ADD9B5344}"/>
              </a:ext>
            </a:extLst>
          </p:cNvPr>
          <p:cNvSpPr txBox="1"/>
          <p:nvPr/>
        </p:nvSpPr>
        <p:spPr>
          <a:xfrm>
            <a:off x="957431" y="797510"/>
            <a:ext cx="1043491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Project Objectives</a:t>
            </a: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Introduction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digitize and streamline the core functions of a physical library.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Minimizes human error and delays associated with manual record-keeping, ensuring data integrity.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using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LAMP Stack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(Linux/Windows, Apache, MySQL, PHP).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Key Objectives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CRUD Capability: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Create, Read, Update, and Delete operations for Books and Users.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dynamic searching and sorting of the book inventory.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Integrity: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process, linking books and users securely using Foreign Keys.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34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48AC0C6-A9CF-AB32-EB99-980CF8E5156F}"/>
              </a:ext>
            </a:extLst>
          </p:cNvPr>
          <p:cNvSpPr txBox="1"/>
          <p:nvPr/>
        </p:nvSpPr>
        <p:spPr>
          <a:xfrm>
            <a:off x="290456" y="441064"/>
            <a:ext cx="13195001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&amp; Tools</a:t>
            </a: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🖥️ Frontend (Presentation Layer)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foundational structure for the web page forms and tables.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the aesthetic styling and layout.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Backend (Logic &amp; Processing)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(v8.x):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core scripting language responsible for receiving user input and executing database commands.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XAMPP/WAMP (for local Apache server environment).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💾 Database (Data Layer)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relational database management system (RDBMS) used for permanent data storage.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phpMyAdmin: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managing the MySQL database structure (schema creation, data insertion).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34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235E1E-2932-14AB-15B1-A98C05B18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55794"/>
              </p:ext>
            </p:extLst>
          </p:nvPr>
        </p:nvGraphicFramePr>
        <p:xfrm>
          <a:off x="838200" y="2173046"/>
          <a:ext cx="10515600" cy="4057376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710489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160081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879877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83134821"/>
                    </a:ext>
                  </a:extLst>
                </a:gridCol>
              </a:tblGrid>
              <a:tr h="44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 Name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Fields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Relationship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234365"/>
                  </a:ext>
                </a:extLst>
              </a:tr>
              <a:tr h="1101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(PK), title, author, genre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static information about each book in the library.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One-to-Many with borrowings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457649"/>
                  </a:ext>
                </a:extLst>
              </a:tr>
              <a:tr h="1082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(PK), name, email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information about registered library members.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One-to-Many with borrowings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999493"/>
                  </a:ext>
                </a:extLst>
              </a:tr>
              <a:tr h="1432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borrowings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(PK), </a:t>
                      </a:r>
                      <a:r>
                        <a:rPr lang="en-US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book_id</a:t>
                      </a:r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(FK)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(FK)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borrow_date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linking table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that records which user has borrowed which book and when.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Many-to-One with books and users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090334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D5B70B09-D8D7-8303-38BB-8B83DC25A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57151"/>
            <a:ext cx="10844605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Schema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📊 Entity Relationship Diagram (ERD)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19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1E5DD8D9-6260-DBEC-E5EB-8ABF47232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097" y="900765"/>
            <a:ext cx="10671586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Functionalities - Deep Dive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Book and User Management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Inserts new records. Includes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"Chaining" logic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—optionally assigning a book to a user immediately upon creation (if the user ID is provided).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Modifies existing records based on a unique id. Used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Mode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triggered via URL parameter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edit_book_id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Removes records and associated borrowing data, maintaining referential integrity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constraints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Data Retrieval (READ)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is fetched dynamically using PHP and MySQL. The system dynamically generates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structured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4BDB77A-A961-0AA1-8597-7CAB05EAC67D}"/>
              </a:ext>
            </a:extLst>
          </p:cNvPr>
          <p:cNvSpPr txBox="1"/>
          <p:nvPr/>
        </p:nvSpPr>
        <p:spPr>
          <a:xfrm>
            <a:off x="806824" y="839097"/>
            <a:ext cx="1012753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Data Filtering (Search &amp; Sort)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Search Mechanism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via the PHP global variable $_GET['search'].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search term is integrated into the MySQL query using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clause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'%term%'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to perform pattern matching on both the title and author columns.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↕️ Sorting Mechanism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Controlled by $_GET['sort'] (column name) and $_GET['order'] (ASC/DESC).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database is queried with a dynamic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clause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ORDER BY title ASC).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headers contain links that toggle the sort order and column.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19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055FF2F-535B-BAFA-3D4F-71CCD07E21AE}"/>
              </a:ext>
            </a:extLst>
          </p:cNvPr>
          <p:cNvSpPr txBox="1"/>
          <p:nvPr/>
        </p:nvSpPr>
        <p:spPr>
          <a:xfrm>
            <a:off x="1033127" y="734144"/>
            <a:ext cx="10466798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Robust Solution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Challenge 1: Missing Table Error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Fatal error: Uncaught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mysqli_sql_exception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Table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library_db.borrowings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doesn't exist.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system's logic required the borrowings table, but it was not present in the database.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Executing the appropriate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borrowings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command with correct Foreign Keys.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Challenge 2: Search/Sort Context Loss (The Fix)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Clicking "Cancel Edit" or "Edit" caused the system to navigate back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index.php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search/sort parameters, losing the user's filtered view.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get_current_query_params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helper function to: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all active $_GET parameters (search, sort, order).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append these parameters to all "Edit" and "Cancel Edit" links, preserving the browsing state.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06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8B021ABE-8561-04D1-DE14-9A53C2C8D7F0}"/>
              </a:ext>
            </a:extLst>
          </p:cNvPr>
          <p:cNvSpPr txBox="1"/>
          <p:nvPr/>
        </p:nvSpPr>
        <p:spPr>
          <a:xfrm>
            <a:off x="720762" y="579358"/>
            <a:ext cx="1053173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Validation</a:t>
            </a:r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🛡️ SQL Injection Prevention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Statements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mysqli_prepare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for all data modification queries (INSERT, UPDATE, DELETE).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separates the SQL command structure from user data, preventing malicious code injection.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Cross-Site Scripting (XSS) Prevention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htmlspecialchars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output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 to the HTML page (e.g., displaying book titles, search terms).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special characters into HTML entities, preventing browser execution of injected scripts.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📜 Data Validation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checks for empty fields (empty()), valid email formats (FILTER_VALIDATE_EMAIL), and valid year ranges.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604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044157C-B795-F241-6240-4F39C5C1B7ED}"/>
              </a:ext>
            </a:extLst>
          </p:cNvPr>
          <p:cNvSpPr txBox="1"/>
          <p:nvPr/>
        </p:nvSpPr>
        <p:spPr>
          <a:xfrm>
            <a:off x="1172584" y="666973"/>
            <a:ext cx="981097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Enhancements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a secure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Login/Logout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for Admin and General Users.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Borrowing: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 dedicated interface for checking out and checking in books, including: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 and automatic calculation.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Penalty/Fine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calculation for overdue books.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reports on total books borrowed, most popular genres, and overdue items.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Upgrade: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Migrate the frontend design to a modern framework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responsive user interface.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479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2DCC538-F130-444C-A4F7-DB7BD67A732B}"/>
              </a:ext>
            </a:extLst>
          </p:cNvPr>
          <p:cNvSpPr txBox="1"/>
          <p:nvPr/>
        </p:nvSpPr>
        <p:spPr>
          <a:xfrm>
            <a:off x="1140310" y="1105287"/>
            <a:ext cx="933002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Q&amp;A</a:t>
            </a: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successfully demonstrated robust CRUD capabilities, dynamic data handling, and essential security principles in a functional web application environment.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 for your time and attention.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am now open to any questions regarding the project implementation or design.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471967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AFE2A1-77F8-441E-9B9F-DD61C354F4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CF4B188-9E41-4609-81DC-EA2587D009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52644-F409-493B-8E91-969D43897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Luminous design</Template>
  <TotalTime>45</TotalTime>
  <Words>1000</Words>
  <Application>Microsoft Office PowerPoint</Application>
  <PresentationFormat>Widescreen</PresentationFormat>
  <Paragraphs>121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Avenir Next LT Pro</vt:lpstr>
      <vt:lpstr>Calibri</vt:lpstr>
      <vt:lpstr>Cambria</vt:lpstr>
      <vt:lpstr>Sabon Next LT</vt:lpstr>
      <vt:lpstr>Times New Roman</vt:lpstr>
      <vt:lpstr>Wingdings</vt:lpstr>
      <vt:lpstr>LuminousVTI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Srija</dc:creator>
  <cp:lastModifiedBy>K Srija</cp:lastModifiedBy>
  <cp:revision>1</cp:revision>
  <dcterms:created xsi:type="dcterms:W3CDTF">2025-11-19T13:43:38Z</dcterms:created>
  <dcterms:modified xsi:type="dcterms:W3CDTF">2025-11-19T14:29:05Z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